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Kiss" userId="b180e695-ff51-4278-b09e-25c131ac97f8" providerId="ADAL" clId="{57FB13F3-E863-BC45-837B-D797180526C8}"/>
    <pc:docChg chg="modShowInfo">
      <pc:chgData name="Simon Kiss" userId="b180e695-ff51-4278-b09e-25c131ac97f8" providerId="ADAL" clId="{57FB13F3-E863-BC45-837B-D797180526C8}" dt="2020-10-09T16:22:03.670" v="0" actId="2744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Populism doesn’t just mean popular and it doesn’t just mean angry; tendency to use the term widely to popular politicians or moment of electoral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t>Ideology and a stratey: As an ideology it can go in a number of different ways, usually emphasizing the purity and uncorrupted nature of “the people” set against some elite ethnic or economically based</a:t>
            </a:r>
          </a:p>
          <a:p>
            <a:pPr marL="0" lvl="0" indent="0">
              <a:buNone/>
            </a:pPr>
            <a:endParaRPr/>
          </a:p>
          <a:p>
            <a:pPr lvl="1">
              <a:buAutoNum type="arabicPeriod"/>
            </a:pPr>
            <a:r>
              <a:t>We look at Rob Ford we see a lot of this, emphasizing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Waste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Downtown elites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Paying his own office expenss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Direct cell phone line emphasizing kind of a direct relationship between him and the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 startAt="3"/>
            </a:pPr>
            <a:r>
              <a:t>Worldiwide movement</a:t>
            </a:r>
          </a:p>
          <a:p>
            <a:pPr marL="0" lvl="0" indent="0">
              <a:buNone/>
            </a:pPr>
            <a:endParaRPr/>
          </a:p>
          <a:p>
            <a:pPr lvl="1">
              <a:buAutoNum type="arabicPeriod" startAt="3"/>
            </a:pPr>
            <a:r>
              <a:t>Debate about the merits of the populism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On the one hand, creative, manifestation of discontent way to challenge the status quo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Darker side that can upend pluralistic societies that legitimate debate and decisions by rules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Two explanations economics (people left behind)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Culture (fear of cultural loss and immigration)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Data difference. Usually aggregate measures of economic grievances show a support for populism; individual level sources of evidence, which is what we have here usually show that racism and fear of immigration are drive support for populism.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There is some evidence that right-wing populism can really have its roots in municipal politics This is the only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latinLnBrk="0" hangingPunct="1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 financial anxiety For all the talk about any voters, measures like this were not strongly linked to Donald Trump’s support</a:t>
            </a:r>
            <a:endParaRPr lang="en-CA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41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Visible minority status remained a strong predictor of support for Rob Ford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380C-42DC-AC44-B732-3F1AE0959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D3446-901A-454B-BC06-729E28CFF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192CD-1DDA-DC44-9BC5-731A62C9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31D9-E3A2-D840-88F6-27716283B71D}" type="datetimeFigureOut">
              <a:rPr lang="en-US" smtClean="0"/>
              <a:t>10/9/20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8CE2B-B2E3-FF49-83E4-BB584EE9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AF665-E17F-E545-B425-D0EBF53E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1DDE9-2AB2-D540-A4A9-31DB87EF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05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FE6F-7817-9F4A-8FCC-9B55C707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F0E1-78FA-6948-BA12-2FB20863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26941-3045-DC4C-93CD-182944FD5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31D9-E3A2-D840-88F6-27716283B71D}" type="datetimeFigureOut">
              <a:rPr lang="en-US" smtClean="0"/>
              <a:t>10/9/20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CD200-0CB3-FF40-A269-05803A474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A0673-61F3-3A46-9BA5-1B10B5BC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1DDE9-2AB2-D540-A4A9-31DB87EF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2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F1173-6D59-4D45-82F8-6323DEB6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BF62B-FB6C-5841-8A6C-262AB2169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0449A-11F8-E048-81FA-9645BEF0E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31D9-E3A2-D840-88F6-27716283B71D}" type="datetimeFigureOut">
              <a:rPr lang="en-US" smtClean="0"/>
              <a:t>10/9/20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48F9A-9CDD-824A-B130-9EAA37F7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60DCE-C3C8-E347-8BB6-3881A7BD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1DDE9-2AB2-D540-A4A9-31DB87EF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5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B9F4-373A-8B42-88DA-EE4CD222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8398A-613B-B144-BB4B-1AC5CFFC4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D3CE2-D16D-234F-A65E-1D7FF8476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7428E-4681-8247-9579-C6C61F85A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31D9-E3A2-D840-88F6-27716283B71D}" type="datetimeFigureOut">
              <a:rPr lang="en-US" smtClean="0"/>
              <a:t>10/9/20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703FB-3CC6-CF41-9D60-380305FC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69154-D07E-8B49-AFDE-3DF1CE91B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1DDE9-2AB2-D540-A4A9-31DB87EF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45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9E460-EC02-C94E-8B70-DEBB72AD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05EB7-DB45-734A-8CFA-D27044515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76FE9-0D62-3143-A4FA-B9010E0A5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E2B40-0694-7F47-B414-2DAFA6B92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423DA-6B33-0A41-BE2E-0B931112E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B8E30B-BD34-D54D-AA1E-31E8B777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31D9-E3A2-D840-88F6-27716283B71D}" type="datetimeFigureOut">
              <a:rPr lang="en-US" smtClean="0"/>
              <a:t>10/9/20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2BA7FC-0653-4B49-881D-0BA2E968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4B67F-9646-8347-89A2-CABD11C3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1DDE9-2AB2-D540-A4A9-31DB87EF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3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5415-1860-274D-9B3B-6962AF07C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7FB555-DC78-934C-9B5D-966331E45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31D9-E3A2-D840-88F6-27716283B71D}" type="datetimeFigureOut">
              <a:rPr lang="en-US" smtClean="0"/>
              <a:t>10/9/20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D718B7-4A55-BD44-8D44-6CC17B625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02CEB-5915-8D4E-A2AA-CEF253FD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1DDE9-2AB2-D540-A4A9-31DB87EF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6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8D2DC-0462-F642-B7D6-48DDAC8A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31D9-E3A2-D840-88F6-27716283B71D}" type="datetimeFigureOut">
              <a:rPr lang="en-US" smtClean="0"/>
              <a:t>10/9/20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063C0-8519-C346-899B-9AF5E19FA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DD84E-BDD9-0446-8086-CE2AE0D39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1DDE9-2AB2-D540-A4A9-31DB87EF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38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5E50-A93F-1E40-9D65-5B505A283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9C0DB-33B1-C441-80E0-0F691B148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4D66E-A016-0842-8DBA-8CC74D6F8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A8E5D-4156-834F-AE42-EC9B21F4F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31D9-E3A2-D840-88F6-27716283B71D}" type="datetimeFigureOut">
              <a:rPr lang="en-US" smtClean="0"/>
              <a:t>10/9/20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5579A-9CB2-BE4E-8FE4-ABF50FEA6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61B7E-55DF-F642-B3FD-287F89A1F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1DDE9-2AB2-D540-A4A9-31DB87EF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5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7F114-41BF-974D-B116-129913CF0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C3E0B8-8346-7C4D-9345-8C1C83CDE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C9C71-7FC5-A441-923E-E8968A089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96DDC-9192-3B45-8DB3-48CB42BE8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31D9-E3A2-D840-88F6-27716283B71D}" type="datetimeFigureOut">
              <a:rPr lang="en-US" smtClean="0"/>
              <a:t>10/9/20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BF85B-A585-1B42-97D8-A9BE4FB0C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A2852-FF5B-4F4F-9813-009E1E19C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1DDE9-2AB2-D540-A4A9-31DB87EF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20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54EF-DE9D-6649-896C-6118C097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3C453-ACD0-5648-8BFF-A14748229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59162-3476-5945-BF17-F39D3D95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31D9-E3A2-D840-88F6-27716283B71D}" type="datetimeFigureOut">
              <a:rPr lang="en-US" smtClean="0"/>
              <a:t>10/9/20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7C244-F9A3-984D-A783-CD93E0BF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B182D-CCC7-2F44-812D-032A6424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1DDE9-2AB2-D540-A4A9-31DB87EF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7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61B8EE-D19B-D247-B33E-BD9BCA8C19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CB5E3-50BE-EC42-AA60-82B9CFBC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9158B-7B09-4C41-8A16-06BC8D482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31D9-E3A2-D840-88F6-27716283B71D}" type="datetimeFigureOut">
              <a:rPr lang="en-US" smtClean="0"/>
              <a:t>10/9/20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1367-05DE-BA4D-A4C3-4193D4036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AF64C-85FD-294A-9000-DF634AE2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1DDE9-2AB2-D540-A4A9-31DB87EF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0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1D623F-5573-5E4E-9A7E-2EACADF0C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7AF50-26D9-7042-8F07-E84E8F136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F3F50-7180-054B-8546-B83909C9E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031D9-E3A2-D840-88F6-27716283B71D}" type="datetimeFigureOut">
              <a:rPr lang="en-US" smtClean="0"/>
              <a:t>10/9/20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4E1F3-CCBD-D447-ABB4-979DD34A2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A8F97-BFE1-0744-B4DB-7512428F8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1DDE9-2AB2-D540-A4A9-31DB87EF9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74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xfordbibliographies.com/view/document/obo-9780199756223/obo-9780199756223-0300.x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380C-42DC-AC44-B732-3F1AE0959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marL="0" lvl="0" indent="0">
              <a:buNone/>
            </a:pPr>
            <a:r>
              <a:t>Rob Ford and Municipal Populism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D3446-901A-454B-BC06-729E28CFF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t>Presentation to the AMCTO Leaders’ Forum</a:t>
            </a:r>
            <a:br/>
            <a:br/>
            <a:r>
              <a:t>Simon Kiss</a:t>
            </a:r>
            <a:br/>
            <a:r>
              <a:t>Director, Laurier Institute for the Study of Public Opinion and Policy</a:t>
            </a:r>
            <a:br/>
            <a:r>
              <a:t>Wilfrid Laurier University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192CD-1DDA-DC44-9BC5-731A62C9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08/10/2020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FE6F-7817-9F4A-8FCC-9B55C707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Municipal Populism</a:t>
            </a:r>
          </a:p>
        </p:txBody>
      </p:sp>
      <p:pic>
        <p:nvPicPr>
          <p:cNvPr id="3" name="Picture 1" descr="images/ford_articl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717800" y="1816100"/>
            <a:ext cx="67691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FE6F-7817-9F4A-8FCC-9B55C707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Municipal Populism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F0E1-78FA-6948-BA12-2FB20863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2000"/>
              <a:t>Populism is an anti-establishment, anti-elite ideology and political strategy. Populism as an ideology adopts a discursive approach and focuses on the tensions between the “pure people” and the “corrupt elite….Populism viewed as a political strategy focuses on its agency, or the ability of populist movements to instrumentally appeal to followers, to maintain a direct relationship between the leader and the followers, and to exploit existing institutional weaknesses (Bustikova and Guasti 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FE6F-7817-9F4A-8FCC-9B55C707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Municipal Populism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F0E1-78FA-6948-BA12-2FB20863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2000"/>
              <a:t>Populism is an anti-establishment, anti-elite ideology and political strategy. Populism as an ideology adopts a discursive approach and focuses on the tensions between the “pure people” and the “corrupt elite….Populism viewed as a political strategy focuses on its agency, or the ability of populist movements to instrumentally appeal to followers, to maintain a direct relationship between the leader and the followers, and to exploit existing institutional weaknesses (Bustikova and Guasti 2020)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FE6F-7817-9F4A-8FCC-9B55C707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Municipal Populism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F0E1-78FA-6948-BA12-2FB20863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Our dataset </a:t>
            </a:r>
            <a:endParaRPr lang="en-CA" dirty="0"/>
          </a:p>
          <a:p>
            <a:pPr marL="0" lvl="0" indent="0">
              <a:buNone/>
            </a:pPr>
            <a:r>
              <a:rPr dirty="0"/>
              <a:t>- Ipsos-Reid’s Exit Survey of the 2014 General Election </a:t>
            </a:r>
            <a:endParaRPr lang="en-CA" dirty="0"/>
          </a:p>
          <a:p>
            <a:pPr marL="0" lvl="0" indent="0">
              <a:buNone/>
            </a:pPr>
            <a:r>
              <a:rPr dirty="0"/>
              <a:t>- 8208 respondents in Ontario; 1545 in City of Toronto </a:t>
            </a:r>
            <a:endParaRPr lang="en-CA"/>
          </a:p>
          <a:p>
            <a:pPr marL="0" lvl="0" indent="0">
              <a:buNone/>
            </a:pPr>
            <a:r>
              <a:t>- Publicly available through ODESI (Ontario Data Documentation, Extraction Service and Infrastructure)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FE6F-7817-9F4A-8FCC-9B55C707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Municipal Populism</a:t>
            </a:r>
          </a:p>
        </p:txBody>
      </p:sp>
      <p:pic>
        <p:nvPicPr>
          <p:cNvPr id="3" name="Picture 1" descr="../Plots_Tables/income-stress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844800" y="1816100"/>
            <a:ext cx="65151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FE6F-7817-9F4A-8FCC-9B55C707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Municipal Populism</a:t>
            </a:r>
          </a:p>
        </p:txBody>
      </p:sp>
      <p:pic>
        <p:nvPicPr>
          <p:cNvPr id="3" name="Picture 1" descr="../Plots_Tables/ford-visible-minority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844800" y="1816100"/>
            <a:ext cx="65151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FE6F-7817-9F4A-8FCC-9B55C707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Municipal Populism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F0E1-78FA-6948-BA12-2FB20863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Visible minority status remained a significant and important predictor of support for Rob Ford in 2014</a:t>
            </a:r>
          </a:p>
          <a:p>
            <a:pPr lvl="1"/>
            <a:r>
              <a:t>Financial Stress was weakly related to support for Rob Ford</a:t>
            </a:r>
          </a:p>
          <a:p>
            <a:pPr lvl="2"/>
            <a:r>
              <a:t>It made respondents more conservative</a:t>
            </a:r>
          </a:p>
          <a:p>
            <a:pPr lvl="1"/>
            <a:r>
              <a:t>Other notable factors included;</a:t>
            </a:r>
          </a:p>
          <a:p>
            <a:pPr lvl="2"/>
            <a:r>
              <a:t>driving a car to work</a:t>
            </a:r>
          </a:p>
          <a:p>
            <a:pPr lvl="2"/>
            <a:r>
              <a:t>income was negatively related to support for Ford, but only through ideology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FE6F-7817-9F4A-8FCC-9B55C707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Municipal Populism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F0E1-78FA-6948-BA12-2FB20863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Lessons</a:t>
            </a:r>
          </a:p>
          <a:p>
            <a:pPr lvl="1">
              <a:buAutoNum type="arabicPeriod"/>
            </a:pPr>
            <a:r>
              <a:rPr dirty="0"/>
              <a:t>Right-wing populism is a viable coalition in municipal politics in Canada.</a:t>
            </a:r>
          </a:p>
          <a:p>
            <a:pPr lvl="1">
              <a:buAutoNum type="arabicPeriod"/>
            </a:pPr>
            <a:r>
              <a:rPr dirty="0"/>
              <a:t>The right-wing populist coalition was poorer, drove cars, more conservative and grumpy about their financial stress.</a:t>
            </a:r>
          </a:p>
          <a:p>
            <a:pPr lvl="1">
              <a:buAutoNum type="arabicPeriod"/>
            </a:pPr>
            <a:r>
              <a:rPr dirty="0"/>
              <a:t>Unlike most other cases </a:t>
            </a:r>
            <a:r>
              <a:rPr lang="en-CA" dirty="0"/>
              <a:t>r</a:t>
            </a:r>
            <a:r>
              <a:rPr dirty="0" err="1"/>
              <a:t>ight</a:t>
            </a:r>
            <a:r>
              <a:rPr dirty="0"/>
              <a:t> wing populism is viable in Canadian municipalities, without targeting immigrants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FE6F-7817-9F4A-8FCC-9B55C707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F0E1-78FA-6948-BA12-2FB20863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Bustikova, L, and PEtra Guasti. 2020. “Populism.” </a:t>
            </a:r>
            <a:r>
              <a:rPr i="1"/>
              <a:t>Oxford Dictionary of Political Science</a:t>
            </a:r>
            <a:r>
              <a:t>. </a:t>
            </a:r>
            <a:r>
              <a:rPr>
                <a:hlinkClick r:id="rId2"/>
              </a:rPr>
              <a:t>https://www.oxfordbibliographies.com/view/document/obo-9780199756223/obo-9780199756223-0300.xml</a:t>
            </a:r>
            <a: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652</Words>
  <Application>Microsoft Macintosh PowerPoint</Application>
  <PresentationFormat>Widescreen</PresentationFormat>
  <Paragraphs>63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Rob Ford and Municipal Populism</vt:lpstr>
      <vt:lpstr>Municipal Populism</vt:lpstr>
      <vt:lpstr>Municipal Populism</vt:lpstr>
      <vt:lpstr>Municipal Populism</vt:lpstr>
      <vt:lpstr>Municipal Populism</vt:lpstr>
      <vt:lpstr>Municipal Populism</vt:lpstr>
      <vt:lpstr>Municipal Populism</vt:lpstr>
      <vt:lpstr>Municipal Populism</vt:lpstr>
      <vt:lpstr>Municipal Populism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 Ford and Municipal Populism</dc:title>
  <dc:creator>Simon Kiss; Director, Laurier Institute for the Study of Public Opinion and Policy; Wilfrid Laurier University</dc:creator>
  <cp:keywords/>
  <cp:lastModifiedBy>Simon Kiss</cp:lastModifiedBy>
  <cp:revision>1</cp:revision>
  <dcterms:created xsi:type="dcterms:W3CDTF">2020-10-08T19:06:36Z</dcterms:created>
  <dcterms:modified xsi:type="dcterms:W3CDTF">2020-10-09T16:22:33Z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/Users/skiss/Dropbox/Ford/ford_r_scripts/Ford_Populism.bib</vt:lpwstr>
  </property>
  <property fmtid="{D5CDD505-2E9C-101B-9397-08002B2CF9AE}" pid="3" name="date">
    <vt:lpwstr>08/10/2020</vt:lpwstr>
  </property>
  <property fmtid="{D5CDD505-2E9C-101B-9397-08002B2CF9AE}" pid="4" name="output">
    <vt:lpwstr/>
  </property>
  <property fmtid="{D5CDD505-2E9C-101B-9397-08002B2CF9AE}" pid="5" name="subtitle">
    <vt:lpwstr>Presentation to the AMCTO Leaders’ Forum</vt:lpwstr>
  </property>
</Properties>
</file>